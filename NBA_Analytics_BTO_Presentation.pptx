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311D1C-8C26-4941-B6B3-1C52827DA04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ACE239-E347-4650-AC34-3C1EFB301FC4}" v="16" dt="2026-05-10T19:07:03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E0321-AB73-43C0-8697-1E0DED79D0B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FBBAD-C0A7-4954-AEC3-EEFFCE4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3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I’ll be presenting a project that originally started as an NBA analytics dashboard designed to compare player salaries against player impact metrics.</a:t>
            </a:r>
          </a:p>
          <a:p>
            <a:endParaRPr lang="en-US" dirty="0"/>
          </a:p>
          <a:p>
            <a:r>
              <a:rPr lang="en-US" dirty="0"/>
              <a:t>As the project evolved, it became much more than dashboard development. I began focusing on workflow inefficiencies, automation opportunities, cloud integration, reporting scalability, and overall process optimization.</a:t>
            </a:r>
          </a:p>
          <a:p>
            <a:endParaRPr lang="en-US" dirty="0"/>
          </a:p>
          <a:p>
            <a:r>
              <a:rPr lang="en-US" dirty="0"/>
              <a:t>Throughout this presentation, I’ll walk through the business problem, requirements gathering, technology evaluation, workflow redesign, system architecture, automation strategy, and the operational impact of the final solution.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74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began as a Power BI dashboard designed to evaluate NBA player value through salary-versus-impact analysis.</a:t>
            </a:r>
          </a:p>
          <a:p>
            <a:endParaRPr lang="en-US" dirty="0"/>
          </a:p>
          <a:p>
            <a:r>
              <a:rPr lang="en-US" dirty="0"/>
              <a:t>As the reporting workflow expanded, several operational inefficiencies became apparent, including repetitive manual data preparation, inconsistent refresh workflows, duplicate player handling, and scalability limitations.</a:t>
            </a:r>
          </a:p>
          <a:p>
            <a:endParaRPr lang="en-US" dirty="0"/>
          </a:p>
          <a:p>
            <a:r>
              <a:rPr lang="en-US" dirty="0"/>
              <a:t>To address these challenges, I designed and implemented an automated cloud-integrated analytics pipeline using Python, Azure, and Power BI.</a:t>
            </a:r>
          </a:p>
          <a:p>
            <a:r>
              <a:rPr lang="en-US" dirty="0"/>
              <a:t>The solution automated ingestion, standardized transformations, centralized cloud storage, and enabled KPI-driven reporting through automated refresh workflows.</a:t>
            </a:r>
          </a:p>
          <a:p>
            <a:endParaRPr lang="en-US" dirty="0"/>
          </a:p>
          <a:p>
            <a:r>
              <a:rPr lang="en-US" dirty="0"/>
              <a:t>Although the dataset focused on NBA performance data, the architecture and workflow strategies were intentionally designed to mirror real-world enterprise reporting and business technology environments.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941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began as a Power BI dashboard designed to evaluate NBA player value through salary-versus-impact analysis.</a:t>
            </a:r>
          </a:p>
          <a:p>
            <a:endParaRPr lang="en-US" dirty="0"/>
          </a:p>
          <a:p>
            <a:r>
              <a:rPr lang="en-US" dirty="0"/>
              <a:t>As the reporting workflow expanded, several operational inefficiencies became apparent, including repetitive manual data preparation, inconsistent refresh workflows, duplicate player handling, and scalability limitations.</a:t>
            </a:r>
          </a:p>
          <a:p>
            <a:endParaRPr lang="en-US" dirty="0"/>
          </a:p>
          <a:p>
            <a:r>
              <a:rPr lang="en-US" dirty="0"/>
              <a:t>To address these challenges, I designed and implemented an automated cloud-integrated analytics pipeline using Python, Azure, and Power BI.</a:t>
            </a:r>
          </a:p>
          <a:p>
            <a:r>
              <a:rPr lang="en-US" dirty="0"/>
              <a:t>The solution automated ingestion, standardized transformations, centralized cloud storage, and enabled KPI-driven reporting through automated refresh workflows.</a:t>
            </a:r>
          </a:p>
          <a:p>
            <a:endParaRPr lang="en-US" dirty="0"/>
          </a:p>
          <a:p>
            <a:r>
              <a:rPr lang="en-US" dirty="0"/>
              <a:t>Although the dataset focused on NBA performance data, the architecture and workflow strategies were intentionally designed to mirror real-world enterprise reporting and business technology environments.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77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 project grew, I shifted focus from simply building a dashboard to analyzing the reporting workflow itself.</a:t>
            </a:r>
          </a:p>
          <a:p>
            <a:endParaRPr lang="en-US" dirty="0"/>
          </a:p>
          <a:p>
            <a:r>
              <a:rPr lang="en-US" dirty="0"/>
              <a:t>The original process relied heavily on repetitive manual effort across multiple stages of ingestion, transformation, validation, and reporting.</a:t>
            </a:r>
          </a:p>
          <a:p>
            <a:endParaRPr lang="en-US" dirty="0"/>
          </a:p>
          <a:p>
            <a:r>
              <a:rPr lang="en-US" dirty="0"/>
              <a:t>Several workflow inefficiencies became apparent, including inconsistent refresh processes, fragmented reporting steps, duplicate traded-player records, slower reporting turnaround times, and increased operational dependency on manual tasks.</a:t>
            </a:r>
          </a:p>
          <a:p>
            <a:endParaRPr lang="en-US" dirty="0"/>
          </a:p>
          <a:p>
            <a:r>
              <a:rPr lang="en-US" dirty="0"/>
              <a:t>This analysis ultimately created the foundation for redesigning the workflow into a more scalable and automated reporting process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16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identifying the operational inefficiencies, I approached the project from a business analysis perspective by defining both business and functional requirements for the redesigned workflow.</a:t>
            </a:r>
          </a:p>
          <a:p>
            <a:endParaRPr lang="en-US" dirty="0"/>
          </a:p>
          <a:p>
            <a:r>
              <a:rPr lang="en-US" dirty="0"/>
              <a:t>Some of the key business requirements included reducing manual operational effort, improving reporting consistency, centralizing processed datasets, and supporting scalable KPI-driven reporting.</a:t>
            </a:r>
          </a:p>
          <a:p>
            <a:endParaRPr lang="en-US" dirty="0"/>
          </a:p>
          <a:p>
            <a:r>
              <a:rPr lang="en-US" dirty="0"/>
              <a:t>The functional requirements focused more specifically on automating ingestion workflows, standardizing transformations, validating datasets, enabling automated refreshes, and supporting repeatable analytics processes.</a:t>
            </a:r>
          </a:p>
          <a:p>
            <a:endParaRPr lang="en-US" dirty="0"/>
          </a:p>
          <a:p>
            <a:r>
              <a:rPr lang="en-US" dirty="0"/>
              <a:t>This stage was important because it shifted the project from a dashboard initiative into a broader business technology and workflow optimization effort.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1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requirements were defined, I evaluated different technologies and workflow approaches based on scalability, automation capabilities, operational fit, and reporting integration.</a:t>
            </a:r>
          </a:p>
          <a:p>
            <a:endParaRPr lang="en-US" dirty="0"/>
          </a:p>
          <a:p>
            <a:r>
              <a:rPr lang="en-US" dirty="0"/>
              <a:t>Python was selected for ETL automation because it provided flexible transformation and data-cleaning capabilities.</a:t>
            </a:r>
          </a:p>
          <a:p>
            <a:endParaRPr lang="en-US" dirty="0"/>
          </a:p>
          <a:p>
            <a:r>
              <a:rPr lang="en-US" dirty="0"/>
              <a:t>Azure Blob Storage was selected to centralize processed datasets in cloud storage, while Azure Data Factory supported workflow orchestration and automated refresh scheduling.</a:t>
            </a:r>
          </a:p>
          <a:p>
            <a:endParaRPr lang="en-US" dirty="0"/>
          </a:p>
          <a:p>
            <a:r>
              <a:rPr lang="en-US" dirty="0"/>
              <a:t>Power BI was selected as the reporting platform due to its DAX modeling, Power Query integration, and KPI visualization capabilities.</a:t>
            </a:r>
          </a:p>
          <a:p>
            <a:endParaRPr lang="en-US" dirty="0"/>
          </a:p>
          <a:p>
            <a:r>
              <a:rPr lang="en-US" dirty="0"/>
              <a:t>This evaluation process helped ensure the final architecture aligned with both the technical and operational requirements of the workflow.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24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diagrams compare the original current-state workflow against the redesigned future-state automated workflow.</a:t>
            </a:r>
          </a:p>
          <a:p>
            <a:endParaRPr lang="en-US" dirty="0"/>
          </a:p>
          <a:p>
            <a:r>
              <a:rPr lang="en-US" dirty="0"/>
              <a:t>The current-state process relied heavily on manual ingestion, transformation, duplicate handling, and dashboard refreshes, which created operational inefficiencies and scalability concerns.</a:t>
            </a:r>
          </a:p>
          <a:p>
            <a:endParaRPr lang="en-US" dirty="0"/>
          </a:p>
          <a:p>
            <a:r>
              <a:rPr lang="en-US" dirty="0"/>
              <a:t>The future-state workflow redesigned the process into an automated cloud-integrated pipeline using Python, Azure services, and Power BI.</a:t>
            </a:r>
          </a:p>
          <a:p>
            <a:endParaRPr lang="en-US" dirty="0"/>
          </a:p>
          <a:p>
            <a:r>
              <a:rPr lang="en-US" dirty="0"/>
              <a:t>This redesign significantly improved reporting </a:t>
            </a:r>
          </a:p>
          <a:p>
            <a:r>
              <a:rPr lang="en-US" dirty="0"/>
              <a:t>consistency, reduced manual operational dependency, centralized data management, and enabled scalable KPI-driven reporting workflows.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7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dirty="0" err="1"/>
              <a:t>swimlane</a:t>
            </a:r>
            <a:r>
              <a:rPr lang="en-US" dirty="0"/>
              <a:t> diagram was created to model workflow ownership and system responsibilities across the analytics lifecycle.</a:t>
            </a:r>
          </a:p>
          <a:p>
            <a:endParaRPr lang="en-US" dirty="0"/>
          </a:p>
          <a:p>
            <a:r>
              <a:rPr lang="en-US" dirty="0"/>
              <a:t>Rather than focusing only on technical implementation, I wanted to visualize how responsibilities moved between systems, automation layers, cloud services, reporting platforms, and end users.</a:t>
            </a:r>
          </a:p>
          <a:p>
            <a:endParaRPr lang="en-US" dirty="0"/>
          </a:p>
          <a:p>
            <a:r>
              <a:rPr lang="en-US" dirty="0"/>
              <a:t>The diagram demonstrates how the workflow supports ingestion, orchestration, reporting, and ultimately stakeholder consumption of KPI-driven analytics outputs.</a:t>
            </a:r>
          </a:p>
          <a:p>
            <a:endParaRPr lang="en-US" dirty="0"/>
          </a:p>
          <a:p>
            <a:r>
              <a:rPr lang="en-US" dirty="0"/>
              <a:t>This helped reinforce the project from a business operations and systems perspective rather than only a technical perspective.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9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represents the overall cloud-integrated architecture of the platform.</a:t>
            </a:r>
          </a:p>
          <a:p>
            <a:endParaRPr lang="en-US" dirty="0"/>
          </a:p>
          <a:p>
            <a:r>
              <a:rPr lang="en-US" dirty="0"/>
              <a:t>The workflow was intentionally separated into ingestion, transformation, storage, orchestration, reporting, and consumer layers to improve scalability, maintainability, and workflow organization.</a:t>
            </a:r>
          </a:p>
          <a:p>
            <a:endParaRPr lang="en-US" dirty="0"/>
          </a:p>
          <a:p>
            <a:r>
              <a:rPr lang="en-US" dirty="0"/>
              <a:t>Python handled ETL automation and transformations, Azure Blob Storage centralized processed datasets, Azure Data Factory orchestrated workflows and refresh scheduling, and Power BI supported KPI modeling and visualization.</a:t>
            </a:r>
          </a:p>
          <a:p>
            <a:endParaRPr lang="en-US" dirty="0"/>
          </a:p>
          <a:p>
            <a:r>
              <a:rPr lang="en-US" dirty="0"/>
              <a:t>The goal was to create a repeatable reporting infrastructure capable of supporting scalable analytics operations.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23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diagram focuses specifically on how raw operational data moves technically through the pipeline.</a:t>
            </a:r>
          </a:p>
          <a:p>
            <a:endParaRPr lang="en-US" dirty="0"/>
          </a:p>
          <a:p>
            <a:r>
              <a:rPr lang="en-US" dirty="0"/>
              <a:t>The workflow begins with raw HTML tables, which are processed and transformed through Python and pandas before being standardized, validated, and exported into processed datasets.</a:t>
            </a:r>
          </a:p>
          <a:p>
            <a:endParaRPr lang="en-US" dirty="0"/>
          </a:p>
          <a:p>
            <a:r>
              <a:rPr lang="en-US" dirty="0"/>
              <a:t>Azure services then manage orchestration and centralized storage, while Power BI consumes the cleaned datasets for final KPI calculations and dashboard reporting.</a:t>
            </a:r>
          </a:p>
          <a:p>
            <a:endParaRPr lang="en-US" dirty="0"/>
          </a:p>
          <a:p>
            <a:r>
              <a:rPr lang="en-US" dirty="0"/>
              <a:t>Validation checkpoints were also incorporated throughout the workflow to improve reporting consistency and reduce the risk of inaccurate outputs.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32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final reporting layer of the project and the analytical outputs generated by the workflow.</a:t>
            </a:r>
          </a:p>
          <a:p>
            <a:endParaRPr lang="en-US" dirty="0"/>
          </a:p>
          <a:p>
            <a:r>
              <a:rPr lang="en-US" dirty="0"/>
              <a:t>The dashboard was designed to evaluate player impact relative to salary investment using custom KPI models such as Impact Score, Value Score, and per-36-minute metrics.</a:t>
            </a:r>
          </a:p>
          <a:p>
            <a:endParaRPr lang="en-US" dirty="0"/>
          </a:p>
          <a:p>
            <a:r>
              <a:rPr lang="en-US" dirty="0"/>
              <a:t>Rather than simply displaying raw statistics, the reporting layer focused on standardized KPI-driven analytics capable of supporting insight generation and trend analysis.</a:t>
            </a:r>
          </a:p>
          <a:p>
            <a:endParaRPr lang="en-US" dirty="0"/>
          </a:p>
          <a:p>
            <a:r>
              <a:rPr lang="en-US" dirty="0"/>
              <a:t>This dashboard represents the final reporting output of the larger automated business intelligence workflow.</a:t>
            </a:r>
          </a:p>
          <a:p>
            <a:endParaRPr lang="en-US" dirty="0"/>
          </a:p>
          <a:p>
            <a:r>
              <a:rPr lang="en-US" dirty="0"/>
              <a:t>I’ve also included a live link to the interactive Power BI dashboard, which allows users to explore filters, KPIs, player comparisons, and reporting visuals dynamically in real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04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Throughout the project, several technical and operational challenges emerged that required troubleshooting and workflow redesign.</a:t>
            </a:r>
          </a:p>
          <a:p>
            <a:endParaRPr lang="en-US" dirty="0"/>
          </a:p>
          <a:p>
            <a:r>
              <a:rPr lang="en-US" dirty="0"/>
              <a:t>One major issue involved duplicate traded-player records, which created inconsistencies in KPI calculations. To resolve this, I implemented combined-row transformation logic to standardize player records.</a:t>
            </a:r>
          </a:p>
          <a:p>
            <a:endParaRPr lang="en-US" dirty="0"/>
          </a:p>
          <a:p>
            <a:r>
              <a:rPr lang="en-US" dirty="0"/>
              <a:t>Another challenge involved manual refresh dependencies, which led to the implementation of automated reporting workflows using Azure Data Factory.</a:t>
            </a:r>
          </a:p>
          <a:p>
            <a:endParaRPr lang="en-US" dirty="0"/>
          </a:p>
          <a:p>
            <a:r>
              <a:rPr lang="en-US" dirty="0"/>
              <a:t>Additional challenges included schema consistency, orchestration reliability, and validation accuracy across multiple transformation stages.</a:t>
            </a:r>
          </a:p>
          <a:p>
            <a:endParaRPr lang="en-US" dirty="0"/>
          </a:p>
          <a:p>
            <a:r>
              <a:rPr lang="en-US" dirty="0"/>
              <a:t>This project significantly strengthened my troubleshooting, systems-thinking, and workflow optimization skills.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88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important outcomes of this project was the operational value created through workflow automation and process redesign.</a:t>
            </a:r>
          </a:p>
          <a:p>
            <a:endParaRPr lang="en-US" dirty="0"/>
          </a:p>
          <a:p>
            <a:r>
              <a:rPr lang="en-US" dirty="0"/>
              <a:t>The updated workflow reduced repetitive manual effort, standardized reporting processes, centralized data management, improved refresh consistency, and enabled scalable analytics workflows.</a:t>
            </a:r>
          </a:p>
          <a:p>
            <a:endParaRPr lang="en-US" dirty="0"/>
          </a:p>
          <a:p>
            <a:r>
              <a:rPr lang="en-US" dirty="0"/>
              <a:t>From a business perspective, the project improved reporting efficiency, accelerated analytics delivery, reduced operational dependency, and created a more repeatable analytics lifecycle.</a:t>
            </a:r>
          </a:p>
          <a:p>
            <a:endParaRPr lang="en-US" dirty="0"/>
          </a:p>
          <a:p>
            <a:r>
              <a:rPr lang="en-US" dirty="0"/>
              <a:t>The project ultimately evolved from a dashboard initiative into a broader business technology and operational optimization solution.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34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demonstrates how analytics, automation, cloud infrastructure, and process optimization can be integrated into a scalable business intelligence workflow.</a:t>
            </a:r>
          </a:p>
          <a:p>
            <a:endParaRPr lang="en-US" dirty="0"/>
          </a:p>
          <a:p>
            <a:r>
              <a:rPr lang="en-US" dirty="0"/>
              <a:t>Although the dataset focused on NBA performance data, the workflows and architecture were intentionally designed to mirror real-world enterprise reporting and operational analytics environments.</a:t>
            </a:r>
          </a:p>
          <a:p>
            <a:endParaRPr lang="en-US" dirty="0"/>
          </a:p>
          <a:p>
            <a:r>
              <a:rPr lang="en-US" dirty="0"/>
              <a:t>The project strengthened competencies in analytics engineering, workflow optimization, ETL automation, cloud integration, business intelligence reporting, process mapping, and systems thinking.</a:t>
            </a:r>
          </a:p>
          <a:p>
            <a:endParaRPr lang="en-US" dirty="0"/>
          </a:p>
          <a:p>
            <a:r>
              <a:rPr lang="en-US" dirty="0"/>
              <a:t>Most importantly, it reinforced the importance of designing workflows and reporting systems that improve operational efficiency and support scalable decision-making.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64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reflects the combination of technical and operational skills that I’m continuing to develop within business technology and process optimization environments.</a:t>
            </a:r>
          </a:p>
          <a:p>
            <a:endParaRPr lang="en-US" dirty="0"/>
          </a:p>
          <a:p>
            <a:r>
              <a:rPr lang="en-US" dirty="0"/>
              <a:t>Beyond analytics development, the project involved requirements gathering, workflow analysis, technology evaluation, cloud integration, reporting automation, troubleshooting, and scalable workflow design.</a:t>
            </a:r>
          </a:p>
          <a:p>
            <a:endParaRPr lang="en-US" dirty="0"/>
          </a:p>
          <a:p>
            <a:r>
              <a:rPr lang="en-US" dirty="0"/>
              <a:t>The experience helped strengthen my understanding of how systems, reporting platforms, automation tools, and operational processes work together to support business objectives.</a:t>
            </a:r>
          </a:p>
          <a:p>
            <a:endParaRPr lang="en-US"/>
          </a:p>
          <a:p>
            <a:r>
              <a:rPr lang="en-US"/>
              <a:t>Overall</a:t>
            </a:r>
            <a:r>
              <a:rPr lang="en-US" dirty="0"/>
              <a:t>, the project evolved far beyond dashboard development into a broader business technology initiative focused on scalable reporting infrastructure and operational efficiency improvement.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BBAD-C0A7-4954-AEC3-EEFFCE486F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2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36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11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779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24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8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9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8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40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02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09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97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AEE0-9A33-4EAC-A56F-B9CF120697B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19AB07E-7A80-4CB4-970F-487D68E4C7C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84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app.powerbi.com/view?r=eyJrIjoiODA1MjVkODUtNGE3Zi00MmIwLTljYjUtMmQ2ZmFjNDMxM2E4IiwidCI6ImFjMjRjMTRiLTc3YTEtNDZmYy1hOTY5LTkwNDRiYTIzMTc0MyJ9" TargetMode="Externa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AE69E-EC63-964B-5784-4584AF2B87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NBA Analytics Automation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75624-2CD2-EAF6-7C69-469F6C49B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64340"/>
          </a:xfrm>
        </p:spPr>
        <p:txBody>
          <a:bodyPr/>
          <a:lstStyle/>
          <a:p>
            <a:r>
              <a:rPr lang="en-US" dirty="0"/>
              <a:t>Process Optimization, Cloud Integration &amp; KPI Reporting Automation</a:t>
            </a:r>
          </a:p>
          <a:p>
            <a:r>
              <a:rPr lang="en-US" dirty="0"/>
              <a:t>Dilland Bailey, M.S.</a:t>
            </a:r>
          </a:p>
          <a:p>
            <a:r>
              <a:rPr lang="en-US"/>
              <a:t>Technology </a:t>
            </a:r>
            <a:r>
              <a:rPr lang="en-US" dirty="0"/>
              <a:t>&amp; Process Optimization</a:t>
            </a:r>
          </a:p>
          <a:p>
            <a:r>
              <a:rPr lang="en-US" dirty="0"/>
              <a:t>5/09/2026</a:t>
            </a:r>
          </a:p>
        </p:txBody>
      </p:sp>
    </p:spTree>
    <p:extLst>
      <p:ext uri="{BB962C8B-B14F-4D97-AF65-F5344CB8AC3E}">
        <p14:creationId xmlns:p14="http://schemas.microsoft.com/office/powerpoint/2010/main" val="2009659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3759-9FDD-2130-7AD2-22258B3C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EC59C-E178-78D5-B719-9EE271DB3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This project began as an NBA analytics dashboard designed to compare player salaries against on-court impact and identify high-value performers. As the project evolved, I expanded it into a broader technology and process optimization initiative focused on automating reporting workflows and improving operational efficiency.</a:t>
            </a:r>
          </a:p>
          <a:p>
            <a:pPr marL="0" indent="0">
              <a:buNone/>
            </a:pPr>
            <a:r>
              <a:rPr lang="en-US" dirty="0"/>
              <a:t>To support scalable analytics and reduce manual processes, I designed and implemented an automated cloud-integrated pipeline using Python, Azure, and Power BI. The solution automated data ingestion, standardized transformation workflows, centralized processed datasets in cloud storage, and enabled KPI-driven reporting through automated dashboard refreshes.</a:t>
            </a:r>
          </a:p>
        </p:txBody>
      </p:sp>
    </p:spTree>
    <p:extLst>
      <p:ext uri="{BB962C8B-B14F-4D97-AF65-F5344CB8AC3E}">
        <p14:creationId xmlns:p14="http://schemas.microsoft.com/office/powerpoint/2010/main" val="494977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500EC-AFF8-87BD-6C3C-0621574AD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729AE-D28F-78CB-860D-87CBAF79A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project demonstrates competencies in:</a:t>
            </a:r>
          </a:p>
          <a:p>
            <a:r>
              <a:rPr lang="en-US" sz="1200" dirty="0"/>
              <a:t>Process mapping &amp; workflow optimization</a:t>
            </a:r>
          </a:p>
          <a:p>
            <a:r>
              <a:rPr lang="en-US" sz="1200" dirty="0"/>
              <a:t>Requirements gathering &amp; solution evaluation</a:t>
            </a:r>
          </a:p>
          <a:p>
            <a:r>
              <a:rPr lang="en-US" sz="1200" dirty="0"/>
              <a:t>ETL automation &amp; cloud orchestration</a:t>
            </a:r>
          </a:p>
          <a:p>
            <a:r>
              <a:rPr lang="en-US" sz="1200" dirty="0"/>
              <a:t>Business intelligence &amp; KPI reporting</a:t>
            </a:r>
          </a:p>
          <a:p>
            <a:r>
              <a:rPr lang="en-US" sz="1200" dirty="0"/>
              <a:t>Systems integration &amp; operational analytics</a:t>
            </a:r>
          </a:p>
          <a:p>
            <a:pPr marL="0" indent="0">
              <a:buNone/>
            </a:pPr>
            <a:r>
              <a:rPr lang="en-US" dirty="0"/>
              <a:t>Although the dataset focused on NBA performance data, the workflows and architecture were designed to mirror real-world enterprise reporting and business technology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95363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DD375-A466-2FFF-2465-07673A67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Workflow Inefficiencies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92EA-BE43-8F16-36B7-9D57B6718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/>
              <a:t>The original analytics workflow relied heavily on repetitive manual processes to collect, clean, transform, and report NBA statistical data. While functional at a small scale, the process introduced several operational inefficiencies that limited reporting consistency, scalability, and refresh reliability.</a:t>
            </a:r>
          </a:p>
          <a:p>
            <a:pPr marL="0" indent="0">
              <a:buNone/>
            </a:pPr>
            <a:r>
              <a:rPr lang="en-US" sz="1600" b="1" dirty="0"/>
              <a:t>Key Challenges Identified</a:t>
            </a:r>
          </a:p>
          <a:p>
            <a:r>
              <a:rPr lang="en-US" sz="1600" dirty="0"/>
              <a:t>Repetitive manual data preparation </a:t>
            </a:r>
          </a:p>
          <a:p>
            <a:r>
              <a:rPr lang="en-US" sz="1600" dirty="0"/>
              <a:t>Inconsistent dashboard refresh workflows </a:t>
            </a:r>
          </a:p>
          <a:p>
            <a:r>
              <a:rPr lang="en-US" sz="1600" dirty="0"/>
              <a:t>Duplicate/traded-player record handling </a:t>
            </a:r>
          </a:p>
          <a:p>
            <a:r>
              <a:rPr lang="en-US" sz="1600" dirty="0"/>
              <a:t>Fragmented reporting processes </a:t>
            </a:r>
          </a:p>
          <a:p>
            <a:r>
              <a:rPr lang="en-US" sz="1600" dirty="0"/>
              <a:t>Limited scalability for larger datasets </a:t>
            </a:r>
          </a:p>
          <a:p>
            <a:r>
              <a:rPr lang="en-US" sz="1600" dirty="0"/>
              <a:t>Slower reporting turnaround times </a:t>
            </a:r>
          </a:p>
          <a:p>
            <a:r>
              <a:rPr lang="en-US" sz="1600" dirty="0"/>
              <a:t>Increased risk of human error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4F59E-3520-227F-C935-C2D4A5DEFB61}"/>
              </a:ext>
            </a:extLst>
          </p:cNvPr>
          <p:cNvSpPr txBox="1"/>
          <p:nvPr/>
        </p:nvSpPr>
        <p:spPr>
          <a:xfrm>
            <a:off x="5532913" y="2940819"/>
            <a:ext cx="48966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As the project expanded, it became clear that the workflow required a more scalable and automated solution capable of supporting standardized reporting, centralized data management, and repeatable analytics processes.</a:t>
            </a:r>
          </a:p>
        </p:txBody>
      </p:sp>
    </p:spTree>
    <p:extLst>
      <p:ext uri="{BB962C8B-B14F-4D97-AF65-F5344CB8AC3E}">
        <p14:creationId xmlns:p14="http://schemas.microsoft.com/office/powerpoint/2010/main" val="360085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948EA-F4F9-CA17-BF66-BD114A94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&amp; Functional Requirements Gathered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13228-3260-BEF6-9279-217589596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 data ingestion and refresh workflows</a:t>
            </a:r>
          </a:p>
          <a:p>
            <a:r>
              <a:rPr lang="en-US" dirty="0"/>
              <a:t>Standardize data transformation processes</a:t>
            </a:r>
          </a:p>
          <a:p>
            <a:r>
              <a:rPr lang="en-US" dirty="0"/>
              <a:t>Centralize processed datasets in cloud storage</a:t>
            </a:r>
          </a:p>
          <a:p>
            <a:r>
              <a:rPr lang="en-US" dirty="0"/>
              <a:t>Support scalable KPI-driven reporting</a:t>
            </a:r>
          </a:p>
          <a:p>
            <a:r>
              <a:rPr lang="en-US" dirty="0"/>
              <a:t>Reduce manual operational dependency</a:t>
            </a:r>
          </a:p>
          <a:p>
            <a:r>
              <a:rPr lang="en-US" dirty="0"/>
              <a:t>Improve reporting consistency and reliability</a:t>
            </a:r>
          </a:p>
          <a:p>
            <a:r>
              <a:rPr lang="en-US" dirty="0"/>
              <a:t>Support repeatable analytics workflows</a:t>
            </a:r>
          </a:p>
        </p:txBody>
      </p:sp>
    </p:spTree>
    <p:extLst>
      <p:ext uri="{BB962C8B-B14F-4D97-AF65-F5344CB8AC3E}">
        <p14:creationId xmlns:p14="http://schemas.microsoft.com/office/powerpoint/2010/main" val="1248378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D19BE1-8B0F-3345-7C95-9D64377C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dirty="0"/>
              <a:t>SaaS &amp; Solution Evaluation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FD2ED-792B-BF16-A053-3871D0B35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To support these requirements, multiple technologies and workflow approaches were evaluated based on scalability, automation capabilities, reporting integration, and operational fit.</a:t>
            </a:r>
          </a:p>
          <a:p>
            <a:pPr marL="0" indent="0">
              <a:buNone/>
            </a:pPr>
            <a:r>
              <a:rPr lang="en-US" dirty="0"/>
              <a:t>This analysis ultimately led to the redesign of the workflow into a scalable cloud-integrated business intelligence pipeline.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692578-AEBB-E2DF-1248-88D6A9440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125923"/>
              </p:ext>
            </p:extLst>
          </p:nvPr>
        </p:nvGraphicFramePr>
        <p:xfrm>
          <a:off x="6094411" y="1437630"/>
          <a:ext cx="4960443" cy="3396671"/>
        </p:xfrm>
        <a:graphic>
          <a:graphicData uri="http://schemas.openxmlformats.org/drawingml/2006/table">
            <a:tbl>
              <a:tblPr/>
              <a:tblGrid>
                <a:gridCol w="1510825">
                  <a:extLst>
                    <a:ext uri="{9D8B030D-6E8A-4147-A177-3AD203B41FA5}">
                      <a16:colId xmlns:a16="http://schemas.microsoft.com/office/drawing/2014/main" val="2472664167"/>
                    </a:ext>
                  </a:extLst>
                </a:gridCol>
                <a:gridCol w="1640211">
                  <a:extLst>
                    <a:ext uri="{9D8B030D-6E8A-4147-A177-3AD203B41FA5}">
                      <a16:colId xmlns:a16="http://schemas.microsoft.com/office/drawing/2014/main" val="1398934465"/>
                    </a:ext>
                  </a:extLst>
                </a:gridCol>
                <a:gridCol w="1809407">
                  <a:extLst>
                    <a:ext uri="{9D8B030D-6E8A-4147-A177-3AD203B41FA5}">
                      <a16:colId xmlns:a16="http://schemas.microsoft.com/office/drawing/2014/main" val="3536273134"/>
                    </a:ext>
                  </a:extLst>
                </a:gridCol>
              </a:tblGrid>
              <a:tr h="315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Requirement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Selected Solution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Reason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76677"/>
                  </a:ext>
                </a:extLst>
              </a:tr>
              <a:tr h="53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Automated data ingestion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Python ETL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Flexible transformation logic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037486"/>
                  </a:ext>
                </a:extLst>
              </a:tr>
              <a:tr h="53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Centralized storage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Azure Blob Storage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Scalable cloud storage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93399"/>
                  </a:ext>
                </a:extLst>
              </a:tr>
              <a:tr h="745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Workflow orchestration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Azure Data Factory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Automated scheduling &amp; pipeline control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551014"/>
                  </a:ext>
                </a:extLst>
              </a:tr>
              <a:tr h="530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KPI reporting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Power BI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Interactive analytics &amp; DAX modeling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728793"/>
                  </a:ext>
                </a:extLst>
              </a:tr>
              <a:tr h="745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 transformation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pandas + Power Query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Standardized transformation workflows</a:t>
                      </a:r>
                    </a:p>
                  </a:txBody>
                  <a:tcPr marL="71660" marR="71660" marT="35830" marB="358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540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14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D5095-288B-AC8A-3DC0-7E820B05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1474969"/>
            <a:ext cx="3303997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300" dirty="0"/>
              <a:t>Current-State vs Future-Sate Workflow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059A48-96A7-351E-4EF9-C94311D38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374" y="1478701"/>
            <a:ext cx="6282919" cy="31414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865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6D8CC-A04E-19E4-E3D5-8752645B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300"/>
              <a:t>Cross-Functional Workflow Ownership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120F78-3BB4-6CE7-520B-E7BBECF26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74" y="1118649"/>
            <a:ext cx="5788567" cy="38638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219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4963F-1EFC-CAAF-CB1F-B7A36767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800"/>
              <a:t>Cloud-Integrated Analytics Architecture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9320EE-95EC-0B85-F34B-E96FC913D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824" y="1116345"/>
            <a:ext cx="5792018" cy="38661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24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7E2E8E-70D0-21D1-10F2-089BEDACC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300"/>
              <a:t>End-to-End Data Transformation Lifecycle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2B6CE5-4117-27CD-9FFD-F82F13550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3824" y="1116345"/>
            <a:ext cx="5792018" cy="38661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43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28488-A2D8-E385-127B-355DAC35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88571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600" dirty="0"/>
              <a:t>Dashboard &amp; KPI Reporting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5D3BCD2-1D63-3DFC-4341-120D734B4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374" y="1282360"/>
            <a:ext cx="6282919" cy="353414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5C7511-93DF-A19B-235F-B774FAAD2813}"/>
              </a:ext>
            </a:extLst>
          </p:cNvPr>
          <p:cNvSpPr txBox="1"/>
          <p:nvPr/>
        </p:nvSpPr>
        <p:spPr>
          <a:xfrm>
            <a:off x="823426" y="3543908"/>
            <a:ext cx="256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/>
              </a:rPr>
              <a:t>Live Link to Dashboard</a:t>
            </a:r>
            <a:endParaRPr lang="en-US" dirty="0"/>
          </a:p>
        </p:txBody>
      </p:sp>
      <p:pic>
        <p:nvPicPr>
          <p:cNvPr id="4" name="Picture 3">
            <a:hlinkClick r:id="rId5"/>
            <a:extLst>
              <a:ext uri="{FF2B5EF4-FFF2-40B4-BE49-F238E27FC236}">
                <a16:creationId xmlns:a16="http://schemas.microsoft.com/office/drawing/2014/main" id="{2F57DEDE-00DC-5C1E-2AC6-EEC9A5F066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56" y="3888236"/>
            <a:ext cx="2087880" cy="208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27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0E77C-9C17-51B0-5E6E-66B5F43F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 &amp; Solutions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5831D0-B8D6-7A12-5C2A-B2CE03D6F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9555399"/>
              </p:ext>
            </p:extLst>
          </p:nvPr>
        </p:nvGraphicFramePr>
        <p:xfrm>
          <a:off x="2227254" y="2016126"/>
          <a:ext cx="8051817" cy="3449636"/>
        </p:xfrm>
        <a:graphic>
          <a:graphicData uri="http://schemas.openxmlformats.org/drawingml/2006/table">
            <a:tbl>
              <a:tblPr/>
              <a:tblGrid>
                <a:gridCol w="2683939">
                  <a:extLst>
                    <a:ext uri="{9D8B030D-6E8A-4147-A177-3AD203B41FA5}">
                      <a16:colId xmlns:a16="http://schemas.microsoft.com/office/drawing/2014/main" val="3285921567"/>
                    </a:ext>
                  </a:extLst>
                </a:gridCol>
                <a:gridCol w="2683939">
                  <a:extLst>
                    <a:ext uri="{9D8B030D-6E8A-4147-A177-3AD203B41FA5}">
                      <a16:colId xmlns:a16="http://schemas.microsoft.com/office/drawing/2014/main" val="2818550676"/>
                    </a:ext>
                  </a:extLst>
                </a:gridCol>
                <a:gridCol w="2683939">
                  <a:extLst>
                    <a:ext uri="{9D8B030D-6E8A-4147-A177-3AD203B41FA5}">
                      <a16:colId xmlns:a16="http://schemas.microsoft.com/office/drawing/2014/main" val="1844361906"/>
                    </a:ext>
                  </a:extLst>
                </a:gridCol>
              </a:tblGrid>
              <a:tr h="306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Challenge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Impact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Solution Implemented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203545"/>
                  </a:ext>
                </a:extLst>
              </a:tr>
              <a:tr h="766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Duplicate traded-player records (2TM/3TM)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Inconsistent KPI calculations and duplicate reporting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Implemented combined-row transformation logic to standardize player records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608344"/>
                  </a:ext>
                </a:extLst>
              </a:tr>
              <a:tr h="536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Manual dashboard refresh dependency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Repetitive operational effort and delayed reporting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Designed automated reporting refresh workflows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1435571"/>
                  </a:ext>
                </a:extLst>
              </a:tr>
              <a:tr h="766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Dataset consistency across multiple sources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Schema mismatches and reporting inconsistencies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Applied standardized transformation and validation logic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72696"/>
                  </a:ext>
                </a:extLst>
              </a:tr>
              <a:tr h="536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Workflow orchestration &amp; scheduling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Limited automation and process scalability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Implemented Azure Data Factory pipeline orchestration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450198"/>
                  </a:ext>
                </a:extLst>
              </a:tr>
              <a:tr h="536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Data validation and refresh accuracy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Risk of inaccurate KPI reporting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Added validation checkpoints and transformation reviews</a:t>
                      </a:r>
                    </a:p>
                  </a:txBody>
                  <a:tcPr marL="76659" marR="76659" marT="38329" marB="383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328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8847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2101-4A50-26F0-E2C7-45FB1D0E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Value &amp; Operational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B7CC6-46DD-2894-9A7D-66D8DCD06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9"/>
            <a:ext cx="4645152" cy="231347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Operational Improvements</a:t>
            </a:r>
          </a:p>
          <a:p>
            <a:r>
              <a:rPr lang="en-US" dirty="0"/>
              <a:t>Reduced repetitive manual effort </a:t>
            </a:r>
          </a:p>
          <a:p>
            <a:r>
              <a:rPr lang="en-US" dirty="0"/>
              <a:t>Standardized reporting workflows </a:t>
            </a:r>
          </a:p>
          <a:p>
            <a:r>
              <a:rPr lang="en-US" dirty="0"/>
              <a:t>Scalable analytics architecture </a:t>
            </a:r>
          </a:p>
          <a:p>
            <a:r>
              <a:rPr lang="en-US" dirty="0"/>
              <a:t>Improved refresh consistency </a:t>
            </a:r>
          </a:p>
          <a:p>
            <a:r>
              <a:rPr lang="en-US" dirty="0"/>
              <a:t>Centralized cloud-based data management </a:t>
            </a:r>
          </a:p>
          <a:p>
            <a:r>
              <a:rPr lang="en-US" dirty="0"/>
              <a:t>Automated reporting lifecycle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5AE07-5279-5E30-79B1-AC0CF05AFC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230872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Business Outcomes</a:t>
            </a:r>
          </a:p>
          <a:p>
            <a:r>
              <a:rPr lang="en-US" dirty="0"/>
              <a:t>Improved reporting efficiency </a:t>
            </a:r>
          </a:p>
          <a:p>
            <a:r>
              <a:rPr lang="en-US" dirty="0"/>
              <a:t>Faster analytics delivery </a:t>
            </a:r>
          </a:p>
          <a:p>
            <a:r>
              <a:rPr lang="en-US" dirty="0"/>
              <a:t>Repeatable reporting processes </a:t>
            </a:r>
          </a:p>
          <a:p>
            <a:r>
              <a:rPr lang="en-US" dirty="0"/>
              <a:t>Reduced operational dependency </a:t>
            </a:r>
          </a:p>
          <a:p>
            <a:r>
              <a:rPr lang="en-US" dirty="0"/>
              <a:t>Improved data consistency and reliability </a:t>
            </a:r>
          </a:p>
          <a:p>
            <a:r>
              <a:rPr lang="en-US" dirty="0"/>
              <a:t>Enhanced KPI-driven decision support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CE754-EC8C-61B9-6B1B-632FD24F0900}"/>
              </a:ext>
            </a:extLst>
          </p:cNvPr>
          <p:cNvSpPr txBox="1"/>
          <p:nvPr/>
        </p:nvSpPr>
        <p:spPr>
          <a:xfrm>
            <a:off x="1454366" y="4477500"/>
            <a:ext cx="96056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Organizational Impact</a:t>
            </a:r>
          </a:p>
          <a:p>
            <a:r>
              <a:rPr lang="en-US" dirty="0"/>
              <a:t>The redesigned workflow transformed a fragmented reporting process into a scalable cloud-integrated analytics platform capable of supporting repeatable and reliable business intelligence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045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3910-86C9-3B46-D108-F66937610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 / 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1D1C-CD56-1F65-1C6F-822E1F387C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100" b="1" dirty="0"/>
              <a:t>Why This Matters</a:t>
            </a:r>
          </a:p>
          <a:p>
            <a:r>
              <a:rPr lang="en-US" sz="3100" dirty="0"/>
              <a:t>This project demonstrates how analytics, automation, cloud infrastructure, and process optimization can be integrated into a scalable business intelligence workflow.</a:t>
            </a:r>
          </a:p>
          <a:p>
            <a:r>
              <a:rPr lang="en-US" sz="3100" dirty="0"/>
              <a:t>Although the operational dataset focused on NBA performance data, the architecture and workflow strategies were designed to mirror real-world enterprise reporting and business technology environments.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517B3-2730-950E-4953-19FE1C44DD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Core Competencies Demonstrated</a:t>
            </a:r>
          </a:p>
          <a:p>
            <a:r>
              <a:rPr lang="en-US" dirty="0"/>
              <a:t>Analytics engineering </a:t>
            </a:r>
          </a:p>
          <a:p>
            <a:r>
              <a:rPr lang="en-US" dirty="0"/>
              <a:t>Workflow optimization </a:t>
            </a:r>
          </a:p>
          <a:p>
            <a:r>
              <a:rPr lang="en-US" dirty="0"/>
              <a:t>Cloud integration </a:t>
            </a:r>
          </a:p>
          <a:p>
            <a:r>
              <a:rPr lang="en-US" dirty="0"/>
              <a:t>Business intelligence reporting </a:t>
            </a:r>
          </a:p>
          <a:p>
            <a:r>
              <a:rPr lang="en-US" dirty="0"/>
              <a:t>ETL automation </a:t>
            </a:r>
          </a:p>
          <a:p>
            <a:r>
              <a:rPr lang="en-US" dirty="0"/>
              <a:t>Systems thinking </a:t>
            </a:r>
          </a:p>
          <a:p>
            <a:r>
              <a:rPr lang="en-US" dirty="0"/>
              <a:t>Process mapping </a:t>
            </a:r>
          </a:p>
          <a:p>
            <a:r>
              <a:rPr lang="en-US" dirty="0"/>
              <a:t>Operational analytics </a:t>
            </a:r>
          </a:p>
          <a:p>
            <a:r>
              <a:rPr lang="en-US" dirty="0"/>
              <a:t>Requirements gathering </a:t>
            </a:r>
          </a:p>
          <a:p>
            <a:r>
              <a:rPr lang="en-US" dirty="0"/>
              <a:t>Technology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261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732BD-0F63-7FFE-8D93-1962D4F9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Impact &amp; Professional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E37E7-4E50-0FED-2D26-FAE755DD44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Technologies Utilized</a:t>
            </a:r>
          </a:p>
          <a:p>
            <a:r>
              <a:rPr lang="en-US" dirty="0"/>
              <a:t>Miro 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pandas </a:t>
            </a:r>
          </a:p>
          <a:p>
            <a:r>
              <a:rPr lang="en-US" dirty="0"/>
              <a:t>Azure Blob Storage </a:t>
            </a:r>
          </a:p>
          <a:p>
            <a:r>
              <a:rPr lang="en-US" dirty="0"/>
              <a:t>Azure Data Factory </a:t>
            </a:r>
          </a:p>
          <a:p>
            <a:r>
              <a:rPr lang="en-US" dirty="0"/>
              <a:t>Power BI </a:t>
            </a:r>
          </a:p>
          <a:p>
            <a:r>
              <a:rPr lang="en-US" dirty="0"/>
              <a:t>DAX </a:t>
            </a:r>
          </a:p>
          <a:p>
            <a:r>
              <a:rPr lang="en-US" dirty="0"/>
              <a:t>Power Query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5BBB7-0AE3-0251-AC81-C4A653BBDC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Core Business Concepts Applied</a:t>
            </a:r>
          </a:p>
          <a:p>
            <a:r>
              <a:rPr lang="en-US" dirty="0"/>
              <a:t>Requirements gathering </a:t>
            </a:r>
          </a:p>
          <a:p>
            <a:r>
              <a:rPr lang="en-US" dirty="0"/>
              <a:t>Process mapping </a:t>
            </a:r>
          </a:p>
          <a:p>
            <a:r>
              <a:rPr lang="en-US" dirty="0"/>
              <a:t>SaaS / technology evaluation </a:t>
            </a:r>
          </a:p>
          <a:p>
            <a:r>
              <a:rPr lang="en-US" dirty="0"/>
              <a:t>Workflow redesign </a:t>
            </a:r>
          </a:p>
          <a:p>
            <a:r>
              <a:rPr lang="en-US" dirty="0"/>
              <a:t>Reporting automation </a:t>
            </a:r>
          </a:p>
          <a:p>
            <a:r>
              <a:rPr lang="en-US" dirty="0"/>
              <a:t>KPI modeling </a:t>
            </a:r>
          </a:p>
          <a:p>
            <a:r>
              <a:rPr lang="en-US" dirty="0"/>
              <a:t>Operational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9712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73</TotalTime>
  <Words>2264</Words>
  <Application>Microsoft Office PowerPoint</Application>
  <PresentationFormat>Widescreen</PresentationFormat>
  <Paragraphs>258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Gill Sans MT</vt:lpstr>
      <vt:lpstr>Gallery</vt:lpstr>
      <vt:lpstr>NBA Analytics Automation Platform</vt:lpstr>
      <vt:lpstr>Executive Summary</vt:lpstr>
      <vt:lpstr>Executive Summary (Cont.)</vt:lpstr>
      <vt:lpstr>Identifying Workflow Inefficiencies</vt:lpstr>
      <vt:lpstr>Business &amp; Functional Requirements Gathered</vt:lpstr>
      <vt:lpstr>SaaS &amp; Solution Evaluation</vt:lpstr>
      <vt:lpstr>Current-State vs Future-Sate Workflow</vt:lpstr>
      <vt:lpstr>Cross-Functional Workflow Ownership</vt:lpstr>
      <vt:lpstr>Cloud-Integrated Analytics Architecture</vt:lpstr>
      <vt:lpstr>End-to-End Data Transformation Lifecycle</vt:lpstr>
      <vt:lpstr>Dashboard &amp; KPI Reporting</vt:lpstr>
      <vt:lpstr>Technical Challenges &amp; Solutions</vt:lpstr>
      <vt:lpstr>Business Value &amp; Operational Impact</vt:lpstr>
      <vt:lpstr>Key Takeaways / Why This Matters</vt:lpstr>
      <vt:lpstr>Project Impact &amp; Professional Alignment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Dilland Bailey</dc:creator>
  <cp:lastModifiedBy>Dilland Bailey</cp:lastModifiedBy>
  <cp:revision>2</cp:revision>
  <dcterms:created xsi:type="dcterms:W3CDTF">2026-05-10T17:45:18Z</dcterms:created>
  <dcterms:modified xsi:type="dcterms:W3CDTF">2026-05-11T01:57:32Z</dcterms:modified>
</cp:coreProperties>
</file>